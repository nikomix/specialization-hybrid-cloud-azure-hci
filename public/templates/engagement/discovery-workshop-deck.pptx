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3600">
                <a:solidFill>
                  <a:srgbClr val="1F4E79"/>
                </a:solidFill>
                <a:latin typeface="Calibri"/>
              </a:rPr>
              <a:t>Azure Local Discovery Workshop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1-day workshop - outcomes, current state, target state, risks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1F4E79"/>
                </a:solidFill>
                <a:latin typeface="Calibri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Outcomes alignment</a:t>
            </a:r>
          </a:p>
          <a:p>
            <a:r>
              <a:rPr sz="1800">
                <a:latin typeface="Calibri"/>
              </a:rPr>
              <a:t>Current state</a:t>
            </a:r>
          </a:p>
          <a:p>
            <a:r>
              <a:rPr sz="1800">
                <a:latin typeface="Calibri"/>
              </a:rPr>
              <a:t>Target pattern</a:t>
            </a:r>
          </a:p>
          <a:p>
            <a:r>
              <a:rPr sz="1800">
                <a:latin typeface="Calibri"/>
              </a:rPr>
              <a:t>Workload placement</a:t>
            </a:r>
          </a:p>
          <a:p>
            <a:r>
              <a:rPr sz="1800">
                <a:latin typeface="Calibri"/>
              </a:rPr>
              <a:t>Validated hardware</a:t>
            </a:r>
          </a:p>
          <a:p>
            <a:r>
              <a:rPr sz="1800">
                <a:latin typeface="Calibri"/>
              </a:rPr>
              <a:t>Arc + observability</a:t>
            </a:r>
          </a:p>
          <a:p>
            <a:r>
              <a:rPr sz="1800">
                <a:latin typeface="Calibri"/>
              </a:rPr>
              <a:t>DR + backup</a:t>
            </a:r>
          </a:p>
          <a:p>
            <a:r>
              <a:rPr sz="1800">
                <a:latin typeface="Calibri"/>
              </a:rPr>
              <a:t>Risks +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1F4E79"/>
                </a:solidFill>
                <a:latin typeface="Calibri"/>
              </a:rPr>
              <a:t>Outcomes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Confirm business outcomes and 12-month success picture</a:t>
            </a:r>
          </a:p>
          <a:p>
            <a:r>
              <a:rPr sz="1800">
                <a:latin typeface="Calibri"/>
              </a:rPr>
              <a:t>Confirm decision rights and steering committee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1F4E79"/>
                </a:solidFill>
                <a:latin typeface="Calibri"/>
              </a:rPr>
              <a:t>Current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Capture topology, hypervisor, host count, pain points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1F4E79"/>
                </a:solidFill>
                <a:latin typeface="Calibri"/>
              </a:rPr>
              <a:t>Target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Single-site / branch / stretch / edge / AKS-on-Local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1F4E79"/>
                </a:solidFill>
                <a:latin typeface="Calibri"/>
              </a:rPr>
              <a:t>Workload placement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Tiered workload table - VM / SQL / AKS / GPU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1F4E79"/>
                </a:solidFill>
                <a:latin typeface="Calibri"/>
              </a:rPr>
              <a:t>Validated 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Long-list of two vendor options from Azure Local catalog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1F4E79"/>
                </a:solidFill>
                <a:latin typeface="Calibri"/>
              </a:rPr>
              <a:t>Arc + observability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Arc scope, Azure Monitor / Defender / Sentinel plan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1F4E79"/>
                </a:solidFill>
                <a:latin typeface="Calibri"/>
              </a:rPr>
              <a:t>DR + backup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RPO / RTO per workload tier, Backup + ASR strategy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1F4E79"/>
                </a:solidFill>
                <a:latin typeface="Calibri"/>
              </a:rPr>
              <a:t>Risks +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Decision log + draft HLD scope statement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1F4E79"/>
                </a:solidFill>
                <a:latin typeface="Calibri"/>
              </a:rP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Discovery report within 5 business days</a:t>
            </a:r>
          </a:p>
          <a:p>
            <a:r>
              <a:rPr sz="1800">
                <a:latin typeface="Calibri"/>
              </a:rPr>
              <a:t>HLD kickoff scheduled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